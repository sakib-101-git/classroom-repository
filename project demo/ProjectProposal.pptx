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y Grotesk Key" charset="1" panose="00000500000000000000"/>
      <p:regular r:id="rId16"/>
    </p:embeddedFont>
    <p:embeddedFont>
      <p:font typeface="TT Hoves" charset="1" panose="02000003020000060003"/>
      <p:regular r:id="rId17"/>
    </p:embeddedFont>
    <p:embeddedFont>
      <p:font typeface="Arial MT Pro Bold" charset="1" panose="020B0802020202020204"/>
      <p:regular r:id="rId18"/>
    </p:embeddedFont>
    <p:embeddedFont>
      <p:font typeface="Canva Sans" charset="1" panose="020B0503030501040103"/>
      <p:regular r:id="rId19"/>
    </p:embeddedFont>
    <p:embeddedFont>
      <p:font typeface="Caladea Bold" charset="1" panose="0204080305040603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4.jpeg" Type="http://schemas.openxmlformats.org/officeDocument/2006/relationships/image"/><Relationship Id="rId5" Target="../media/image1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4560345"/>
            <a:ext cx="18288000" cy="5746816"/>
          </a:xfrm>
          <a:custGeom>
            <a:avLst/>
            <a:gdLst/>
            <a:ahLst/>
            <a:cxnLst/>
            <a:rect r="r" b="b" t="t" l="l"/>
            <a:pathLst>
              <a:path h="5746816" w="18288000">
                <a:moveTo>
                  <a:pt x="0" y="0"/>
                </a:moveTo>
                <a:lnTo>
                  <a:pt x="18288000" y="0"/>
                </a:lnTo>
                <a:lnTo>
                  <a:pt x="18288000" y="5746816"/>
                </a:lnTo>
                <a:lnTo>
                  <a:pt x="0" y="57468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2270" t="-187914" r="-21820" b="-17062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90668" y="552996"/>
            <a:ext cx="2566604" cy="2566604"/>
          </a:xfrm>
          <a:custGeom>
            <a:avLst/>
            <a:gdLst/>
            <a:ahLst/>
            <a:cxnLst/>
            <a:rect r="r" b="b" t="t" l="l"/>
            <a:pathLst>
              <a:path h="2566604" w="2566604">
                <a:moveTo>
                  <a:pt x="0" y="0"/>
                </a:moveTo>
                <a:lnTo>
                  <a:pt x="2566604" y="0"/>
                </a:lnTo>
                <a:lnTo>
                  <a:pt x="2566604" y="2566604"/>
                </a:lnTo>
                <a:lnTo>
                  <a:pt x="0" y="2566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203228" y="5114925"/>
            <a:ext cx="4056072" cy="379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06"/>
              </a:lnSpc>
            </a:pPr>
            <a:r>
              <a:rPr lang="en-US" sz="2312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20 October 2025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3566" y="868373"/>
            <a:ext cx="9650006" cy="2251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86"/>
              </a:lnSpc>
            </a:pPr>
            <a:r>
              <a:rPr lang="en-US" sz="7405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Web Development Project Proposal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2242" y="7405178"/>
            <a:ext cx="3982808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</a:pPr>
            <a:r>
              <a:rPr lang="en-US" sz="20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PRESENTED BY: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2242" y="5095875"/>
            <a:ext cx="5968603" cy="140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3"/>
              </a:lnSpc>
            </a:pPr>
            <a:r>
              <a:rPr lang="en-US" sz="269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Course: CSE242</a:t>
            </a:r>
          </a:p>
          <a:p>
            <a:pPr algn="l">
              <a:lnSpc>
                <a:spcPts val="3773"/>
              </a:lnSpc>
            </a:pPr>
            <a:r>
              <a:rPr lang="en-US" sz="269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Subtitle: Three Practical Web App Ideas</a:t>
            </a:r>
          </a:p>
          <a:p>
            <a:pPr algn="l">
              <a:lnSpc>
                <a:spcPts val="3773"/>
              </a:lnSpc>
              <a:spcBef>
                <a:spcPct val="0"/>
              </a:spcBef>
            </a:pPr>
            <a:r>
              <a:rPr lang="en-US" sz="269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Instructor: Promila Hoque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2242" y="8186156"/>
            <a:ext cx="2854077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Syed Nazmus Sakib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233028312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35050" y="8186156"/>
            <a:ext cx="2027039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Misbah Uddin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233022312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87561" y="8186156"/>
            <a:ext cx="4029373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Mohammed Shafkatul Alam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233030712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24979" y="8186156"/>
            <a:ext cx="1886843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MD. Sadman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233027612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2584670"/>
            <a:ext cx="4135277" cy="7702330"/>
          </a:xfrm>
          <a:custGeom>
            <a:avLst/>
            <a:gdLst/>
            <a:ahLst/>
            <a:cxnLst/>
            <a:rect r="r" b="b" t="t" l="l"/>
            <a:pathLst>
              <a:path h="7702330" w="4135277">
                <a:moveTo>
                  <a:pt x="4135277" y="0"/>
                </a:moveTo>
                <a:lnTo>
                  <a:pt x="0" y="0"/>
                </a:lnTo>
                <a:lnTo>
                  <a:pt x="0" y="7702330"/>
                </a:lnTo>
                <a:lnTo>
                  <a:pt x="4135277" y="7702330"/>
                </a:lnTo>
                <a:lnTo>
                  <a:pt x="4135277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62797" b="-4109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76325"/>
            <a:ext cx="3909003" cy="1271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6"/>
              </a:lnSpc>
            </a:pPr>
            <a:r>
              <a:rPr lang="en-US" sz="4515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About the Proposal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2498508"/>
          <a:ext cx="16573705" cy="7053550"/>
        </p:xfrm>
        <a:graphic>
          <a:graphicData uri="http://schemas.openxmlformats.org/drawingml/2006/table">
            <a:tbl>
              <a:tblPr/>
              <a:tblGrid>
                <a:gridCol w="16573705"/>
              </a:tblGrid>
              <a:tr h="28735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💡 Purpose</a:t>
                      </a:r>
                      <a:endParaRPr lang="en-US" sz="1100"/>
                    </a:p>
                    <a:p>
                      <a:pPr algn="l" marL="582925" indent="-291463" lvl="1">
                        <a:lnSpc>
                          <a:spcPts val="3779"/>
                        </a:lnSpc>
                        <a:buFont typeface="Arial"/>
                        <a:buChar char="•"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Present three unique, practical, and doable full-stack web app ideas.</a:t>
                      </a:r>
                    </a:p>
                    <a:p>
                      <a:pPr algn="l" marL="582925" indent="-291463" lvl="1">
                        <a:lnSpc>
                          <a:spcPts val="3779"/>
                        </a:lnSpc>
                        <a:buFont typeface="Arial"/>
                        <a:buChar char="•"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Demonstrate understanding of frontend, backend and database development.</a:t>
                      </a:r>
                    </a:p>
                    <a:p>
                      <a:pPr algn="l">
                        <a:lnSpc>
                          <a:spcPts val="3779"/>
                        </a:lnSpc>
                      </a:pPr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0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🧱 Requirements</a:t>
                      </a:r>
                      <a:endParaRPr lang="en-US" sz="1100"/>
                    </a:p>
                    <a:p>
                      <a:pPr algn="l" marL="539746" indent="-269873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Each idea includes:</a:t>
                      </a:r>
                    </a:p>
                    <a:p>
                      <a:pPr algn="l" marL="1079492" indent="-359831" lvl="2">
                        <a:lnSpc>
                          <a:spcPts val="3499"/>
                        </a:lnSpc>
                        <a:buFont typeface="Arial"/>
                        <a:buChar char="⚬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Website features and functions</a:t>
                      </a:r>
                    </a:p>
                    <a:p>
                      <a:pPr algn="l" marL="1079492" indent="-359831" lvl="2">
                        <a:lnSpc>
                          <a:spcPts val="3499"/>
                        </a:lnSpc>
                        <a:buFont typeface="Arial"/>
                        <a:buChar char="⚬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Chosen frontend, backend, and database technologies</a:t>
                      </a:r>
                    </a:p>
                    <a:p>
                      <a:pPr algn="l" marL="1079492" indent="-359831" lvl="2">
                        <a:lnSpc>
                          <a:spcPts val="3499"/>
                        </a:lnSpc>
                        <a:buFont typeface="Arial"/>
                        <a:buChar char="⚬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Mention of UI/UX design tools (Figma) if used</a:t>
                      </a:r>
                    </a:p>
                    <a:p>
                      <a:pPr algn="l" marL="539746" indent="-269873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Projects are realistic to build within the semester.</a:t>
                      </a:r>
                    </a:p>
                    <a:p>
                      <a:pPr algn="l">
                        <a:lnSpc>
                          <a:spcPts val="3499"/>
                        </a:lnSpc>
                      </a:pPr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400000">
            <a:off x="10149500" y="-2452392"/>
            <a:ext cx="5686108" cy="10590892"/>
          </a:xfrm>
          <a:custGeom>
            <a:avLst/>
            <a:gdLst/>
            <a:ahLst/>
            <a:cxnLst/>
            <a:rect r="r" b="b" t="t" l="l"/>
            <a:pathLst>
              <a:path h="10590892" w="5686108">
                <a:moveTo>
                  <a:pt x="5686108" y="10590892"/>
                </a:moveTo>
                <a:lnTo>
                  <a:pt x="0" y="10590892"/>
                </a:lnTo>
                <a:lnTo>
                  <a:pt x="0" y="0"/>
                </a:lnTo>
                <a:lnTo>
                  <a:pt x="5686108" y="0"/>
                </a:lnTo>
                <a:lnTo>
                  <a:pt x="5686108" y="10590892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62797" b="-4109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4665116"/>
            <a:ext cx="4785487" cy="4593184"/>
            <a:chOff x="0" y="0"/>
            <a:chExt cx="7094203" cy="68091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094203" cy="6809125"/>
            </a:xfrm>
            <a:custGeom>
              <a:avLst/>
              <a:gdLst/>
              <a:ahLst/>
              <a:cxnLst/>
              <a:rect r="r" b="b" t="t" l="l"/>
              <a:pathLst>
                <a:path h="6809125" w="7094203">
                  <a:moveTo>
                    <a:pt x="16178" y="0"/>
                  </a:moveTo>
                  <a:lnTo>
                    <a:pt x="7078025" y="0"/>
                  </a:lnTo>
                  <a:cubicBezTo>
                    <a:pt x="7082316" y="0"/>
                    <a:pt x="7086431" y="1704"/>
                    <a:pt x="7089465" y="4738"/>
                  </a:cubicBezTo>
                  <a:cubicBezTo>
                    <a:pt x="7092499" y="7772"/>
                    <a:pt x="7094203" y="11887"/>
                    <a:pt x="7094203" y="16178"/>
                  </a:cubicBezTo>
                  <a:lnTo>
                    <a:pt x="7094203" y="6792947"/>
                  </a:lnTo>
                  <a:cubicBezTo>
                    <a:pt x="7094203" y="6801882"/>
                    <a:pt x="7086960" y="6809125"/>
                    <a:pt x="7078025" y="6809125"/>
                  </a:cubicBezTo>
                  <a:lnTo>
                    <a:pt x="16178" y="6809125"/>
                  </a:lnTo>
                  <a:cubicBezTo>
                    <a:pt x="11887" y="6809125"/>
                    <a:pt x="7772" y="6807420"/>
                    <a:pt x="4738" y="6804386"/>
                  </a:cubicBezTo>
                  <a:cubicBezTo>
                    <a:pt x="1704" y="6801352"/>
                    <a:pt x="0" y="6797238"/>
                    <a:pt x="0" y="6792947"/>
                  </a:cubicBezTo>
                  <a:lnTo>
                    <a:pt x="0" y="16178"/>
                  </a:lnTo>
                  <a:cubicBezTo>
                    <a:pt x="0" y="11887"/>
                    <a:pt x="1704" y="7772"/>
                    <a:pt x="4738" y="4738"/>
                  </a:cubicBezTo>
                  <a:cubicBezTo>
                    <a:pt x="7772" y="1704"/>
                    <a:pt x="11887" y="0"/>
                    <a:pt x="16178" y="0"/>
                  </a:cubicBezTo>
                  <a:close/>
                </a:path>
              </a:pathLst>
            </a:custGeom>
            <a:solidFill>
              <a:srgbClr val="F6F6F6"/>
            </a:solidFill>
            <a:ln cap="sq">
              <a:noFill/>
              <a:prstDash val="sysDot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7094203" cy="6904375"/>
            </a:xfrm>
            <a:prstGeom prst="rect">
              <a:avLst/>
            </a:prstGeom>
          </p:spPr>
          <p:txBody>
            <a:bodyPr anchor="b" rtlCol="false" tIns="254000" lIns="254000" bIns="254000" rIns="254000"/>
            <a:lstStyle/>
            <a:p>
              <a:pPr algn="l">
                <a:lnSpc>
                  <a:spcPts val="3359"/>
                </a:lnSpc>
              </a:pPr>
              <a:r>
                <a:rPr lang="en-US" sz="2399" b="true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Features: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File Upload &amp; Download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Role-Based Access (Admin, Teacher, Student)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Visual Suggestion: File upload illustration, classroom icons.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Access to their own departments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553185" y="4665116"/>
            <a:ext cx="4539726" cy="4539726"/>
          </a:xfrm>
          <a:custGeom>
            <a:avLst/>
            <a:gdLst/>
            <a:ahLst/>
            <a:cxnLst/>
            <a:rect r="r" b="b" t="t" l="l"/>
            <a:pathLst>
              <a:path h="4539726" w="4539726">
                <a:moveTo>
                  <a:pt x="0" y="0"/>
                </a:moveTo>
                <a:lnTo>
                  <a:pt x="4539726" y="0"/>
                </a:lnTo>
                <a:lnTo>
                  <a:pt x="4539726" y="4539727"/>
                </a:lnTo>
                <a:lnTo>
                  <a:pt x="0" y="45397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31909" y="4665116"/>
            <a:ext cx="4539726" cy="4593184"/>
          </a:xfrm>
          <a:custGeom>
            <a:avLst/>
            <a:gdLst/>
            <a:ahLst/>
            <a:cxnLst/>
            <a:rect r="r" b="b" t="t" l="l"/>
            <a:pathLst>
              <a:path h="4593184" w="4539726">
                <a:moveTo>
                  <a:pt x="0" y="0"/>
                </a:moveTo>
                <a:lnTo>
                  <a:pt x="4539726" y="0"/>
                </a:lnTo>
                <a:lnTo>
                  <a:pt x="4539726" y="4593184"/>
                </a:lnTo>
                <a:lnTo>
                  <a:pt x="0" y="45931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88" t="0" r="-588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822504"/>
            <a:ext cx="13461364" cy="2041100"/>
            <a:chOff x="0" y="0"/>
            <a:chExt cx="17948485" cy="272146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47625"/>
              <a:ext cx="17948485" cy="111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68"/>
                </a:lnSpc>
              </a:pPr>
              <a:r>
                <a:rPr lang="en-US" sz="5698">
                  <a:solidFill>
                    <a:srgbClr val="000000"/>
                  </a:solidFill>
                  <a:latin typeface="Cy Grotesk Key"/>
                  <a:ea typeface="Cy Grotesk Key"/>
                  <a:cs typeface="Cy Grotesk Key"/>
                  <a:sym typeface="Cy Grotesk Key"/>
                </a:rPr>
                <a:t>Idea 1: EDU Classroom Repo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510321"/>
              <a:ext cx="17948485" cy="12111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5"/>
                </a:lnSpc>
              </a:pPr>
              <a:r>
                <a:rPr lang="en-US" sz="2675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Desc</a:t>
              </a:r>
              <a:r>
                <a:rPr lang="en-US" sz="2675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ription: Current and Previous students enrolled shares the course materials, lecture notes of different faculties under their classroom.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400000">
            <a:off x="10149500" y="-2452392"/>
            <a:ext cx="5686108" cy="10590892"/>
          </a:xfrm>
          <a:custGeom>
            <a:avLst/>
            <a:gdLst/>
            <a:ahLst/>
            <a:cxnLst/>
            <a:rect r="r" b="b" t="t" l="l"/>
            <a:pathLst>
              <a:path h="10590892" w="5686108">
                <a:moveTo>
                  <a:pt x="5686108" y="10590892"/>
                </a:moveTo>
                <a:lnTo>
                  <a:pt x="0" y="10590892"/>
                </a:lnTo>
                <a:lnTo>
                  <a:pt x="0" y="0"/>
                </a:lnTo>
                <a:lnTo>
                  <a:pt x="5686108" y="0"/>
                </a:lnTo>
                <a:lnTo>
                  <a:pt x="5686108" y="10590892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62797" b="-4109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0150" y="2843054"/>
            <a:ext cx="5985298" cy="5985298"/>
          </a:xfrm>
          <a:custGeom>
            <a:avLst/>
            <a:gdLst/>
            <a:ahLst/>
            <a:cxnLst/>
            <a:rect r="r" b="b" t="t" l="l"/>
            <a:pathLst>
              <a:path h="5985298" w="5985298">
                <a:moveTo>
                  <a:pt x="0" y="0"/>
                </a:moveTo>
                <a:lnTo>
                  <a:pt x="5985298" y="0"/>
                </a:lnTo>
                <a:lnTo>
                  <a:pt x="5985298" y="5985298"/>
                </a:lnTo>
                <a:lnTo>
                  <a:pt x="0" y="59852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94696" y="1169678"/>
            <a:ext cx="8392166" cy="9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9"/>
              </a:lnSpc>
            </a:pPr>
            <a:r>
              <a:rPr lang="en-US" sz="58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Tech Stack &amp; Why It Fits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03121" y="2992639"/>
            <a:ext cx="7890942" cy="269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6"/>
              </a:lnSpc>
              <a:spcBef>
                <a:spcPct val="0"/>
              </a:spcBef>
            </a:pPr>
            <a:r>
              <a:rPr lang="en-US" sz="3082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Frontend: HTML, CSS, Javascript, React.js</a:t>
            </a:r>
          </a:p>
          <a:p>
            <a:pPr algn="l">
              <a:lnSpc>
                <a:spcPts val="4316"/>
              </a:lnSpc>
              <a:spcBef>
                <a:spcPct val="0"/>
              </a:spcBef>
            </a:pPr>
            <a:r>
              <a:rPr lang="en-US" sz="3082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Backend: Node.js (Express) </a:t>
            </a:r>
          </a:p>
          <a:p>
            <a:pPr algn="l">
              <a:lnSpc>
                <a:spcPts val="4316"/>
              </a:lnSpc>
              <a:spcBef>
                <a:spcPct val="0"/>
              </a:spcBef>
            </a:pPr>
            <a:r>
              <a:rPr lang="en-US" sz="3082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Database: MongoDB </a:t>
            </a:r>
          </a:p>
          <a:p>
            <a:pPr algn="l">
              <a:lnSpc>
                <a:spcPts val="4316"/>
              </a:lnSpc>
              <a:spcBef>
                <a:spcPct val="0"/>
              </a:spcBef>
            </a:pPr>
            <a:r>
              <a:rPr lang="en-US" sz="3082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UI/UX: Figma (if needed to optimize)</a:t>
            </a:r>
          </a:p>
          <a:p>
            <a:pPr algn="l">
              <a:lnSpc>
                <a:spcPts val="4316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503121" y="7084624"/>
            <a:ext cx="7956938" cy="1743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9"/>
              </a:lnSpc>
              <a:spcBef>
                <a:spcPct val="0"/>
              </a:spcBef>
            </a:pPr>
            <a:r>
              <a:rPr lang="en-US" sz="334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Why It Fits: </a:t>
            </a:r>
          </a:p>
          <a:p>
            <a:pPr algn="l">
              <a:lnSpc>
                <a:spcPts val="4689"/>
              </a:lnSpc>
              <a:spcBef>
                <a:spcPct val="0"/>
              </a:spcBef>
            </a:pPr>
            <a:r>
              <a:rPr lang="en-US" sz="334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CRUD, file handling, access control, perfect academic relevance.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2296933" y="2664407"/>
            <a:ext cx="5325660" cy="9919526"/>
          </a:xfrm>
          <a:custGeom>
            <a:avLst/>
            <a:gdLst/>
            <a:ahLst/>
            <a:cxnLst/>
            <a:rect r="r" b="b" t="t" l="l"/>
            <a:pathLst>
              <a:path h="9919526" w="5325660">
                <a:moveTo>
                  <a:pt x="0" y="0"/>
                </a:moveTo>
                <a:lnTo>
                  <a:pt x="5325660" y="0"/>
                </a:lnTo>
                <a:lnTo>
                  <a:pt x="5325660" y="9919526"/>
                </a:lnTo>
                <a:lnTo>
                  <a:pt x="0" y="9919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62797" b="-4109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49976" y="4076511"/>
            <a:ext cx="4502084" cy="4593184"/>
            <a:chOff x="0" y="0"/>
            <a:chExt cx="6674075" cy="68091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74075" cy="6809125"/>
            </a:xfrm>
            <a:custGeom>
              <a:avLst/>
              <a:gdLst/>
              <a:ahLst/>
              <a:cxnLst/>
              <a:rect r="r" b="b" t="t" l="l"/>
              <a:pathLst>
                <a:path h="6809125" w="6674075">
                  <a:moveTo>
                    <a:pt x="17196" y="0"/>
                  </a:moveTo>
                  <a:lnTo>
                    <a:pt x="6656878" y="0"/>
                  </a:lnTo>
                  <a:cubicBezTo>
                    <a:pt x="6661439" y="0"/>
                    <a:pt x="6665813" y="1812"/>
                    <a:pt x="6669038" y="5037"/>
                  </a:cubicBezTo>
                  <a:cubicBezTo>
                    <a:pt x="6672263" y="8262"/>
                    <a:pt x="6674075" y="12636"/>
                    <a:pt x="6674075" y="17196"/>
                  </a:cubicBezTo>
                  <a:lnTo>
                    <a:pt x="6674075" y="6791928"/>
                  </a:lnTo>
                  <a:cubicBezTo>
                    <a:pt x="6674075" y="6796489"/>
                    <a:pt x="6672263" y="6800863"/>
                    <a:pt x="6669038" y="6804088"/>
                  </a:cubicBezTo>
                  <a:cubicBezTo>
                    <a:pt x="6665813" y="6807313"/>
                    <a:pt x="6661439" y="6809125"/>
                    <a:pt x="6656878" y="6809125"/>
                  </a:cubicBezTo>
                  <a:lnTo>
                    <a:pt x="17196" y="6809125"/>
                  </a:lnTo>
                  <a:cubicBezTo>
                    <a:pt x="12636" y="6809125"/>
                    <a:pt x="8262" y="6807313"/>
                    <a:pt x="5037" y="6804088"/>
                  </a:cubicBezTo>
                  <a:cubicBezTo>
                    <a:pt x="1812" y="6800863"/>
                    <a:pt x="0" y="6796489"/>
                    <a:pt x="0" y="6791928"/>
                  </a:cubicBezTo>
                  <a:lnTo>
                    <a:pt x="0" y="17196"/>
                  </a:lnTo>
                  <a:cubicBezTo>
                    <a:pt x="0" y="12636"/>
                    <a:pt x="1812" y="8262"/>
                    <a:pt x="5037" y="5037"/>
                  </a:cubicBezTo>
                  <a:cubicBezTo>
                    <a:pt x="8262" y="1812"/>
                    <a:pt x="12636" y="0"/>
                    <a:pt x="17196" y="0"/>
                  </a:cubicBezTo>
                  <a:close/>
                </a:path>
              </a:pathLst>
            </a:custGeom>
            <a:solidFill>
              <a:srgbClr val="F6F6F6"/>
            </a:solidFill>
            <a:ln cap="sq">
              <a:noFill/>
              <a:prstDash val="sysDot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6674075" cy="6904375"/>
            </a:xfrm>
            <a:prstGeom prst="rect">
              <a:avLst/>
            </a:prstGeom>
          </p:spPr>
          <p:txBody>
            <a:bodyPr anchor="b" rtlCol="false" tIns="254000" lIns="254000" bIns="254000" rIns="254000"/>
            <a:lstStyle/>
            <a:p>
              <a:pPr algn="l">
                <a:lnSpc>
                  <a:spcPts val="3359"/>
                </a:lnSpc>
              </a:pPr>
              <a:r>
                <a:rPr lang="en-US" sz="2399" b="true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Features: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Doctor &amp; Patient Login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Informations of Different Doctors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Appointment Booking &amp; Rescheduling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Admin Control over Doctor Schedules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Email or SMS Notifications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962496" y="4076511"/>
            <a:ext cx="4593184" cy="4593184"/>
          </a:xfrm>
          <a:custGeom>
            <a:avLst/>
            <a:gdLst/>
            <a:ahLst/>
            <a:cxnLst/>
            <a:rect r="r" b="b" t="t" l="l"/>
            <a:pathLst>
              <a:path h="4593184" w="4593184">
                <a:moveTo>
                  <a:pt x="0" y="0"/>
                </a:moveTo>
                <a:lnTo>
                  <a:pt x="4593184" y="0"/>
                </a:lnTo>
                <a:lnTo>
                  <a:pt x="4593184" y="4593183"/>
                </a:lnTo>
                <a:lnTo>
                  <a:pt x="0" y="45931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666116" y="4076511"/>
            <a:ext cx="4593184" cy="4593184"/>
          </a:xfrm>
          <a:custGeom>
            <a:avLst/>
            <a:gdLst/>
            <a:ahLst/>
            <a:cxnLst/>
            <a:rect r="r" b="b" t="t" l="l"/>
            <a:pathLst>
              <a:path h="4593184" w="4593184">
                <a:moveTo>
                  <a:pt x="0" y="0"/>
                </a:moveTo>
                <a:lnTo>
                  <a:pt x="4593184" y="0"/>
                </a:lnTo>
                <a:lnTo>
                  <a:pt x="4593184" y="4593183"/>
                </a:lnTo>
                <a:lnTo>
                  <a:pt x="0" y="45931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49976" y="1736752"/>
            <a:ext cx="12763757" cy="1574375"/>
            <a:chOff x="0" y="0"/>
            <a:chExt cx="17018343" cy="209916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47625"/>
              <a:ext cx="17018343" cy="111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68"/>
                </a:lnSpc>
              </a:pPr>
              <a:r>
                <a:rPr lang="en-US" sz="5698">
                  <a:solidFill>
                    <a:srgbClr val="000000"/>
                  </a:solidFill>
                  <a:latin typeface="Cy Grotesk Key"/>
                  <a:ea typeface="Cy Grotesk Key"/>
                  <a:cs typeface="Cy Grotesk Key"/>
                  <a:sym typeface="Cy Grotesk Key"/>
                </a:rPr>
                <a:t>Idea 2: HealthLink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510321"/>
              <a:ext cx="17018343" cy="5888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5"/>
                </a:lnSpc>
              </a:pPr>
              <a:r>
                <a:rPr lang="en-US" sz="2675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Desc</a:t>
              </a:r>
              <a:r>
                <a:rPr lang="en-US" sz="2675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ription: A web platform for booking and managing doctor appointments online.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2296933" y="2664407"/>
            <a:ext cx="5325660" cy="9919526"/>
          </a:xfrm>
          <a:custGeom>
            <a:avLst/>
            <a:gdLst/>
            <a:ahLst/>
            <a:cxnLst/>
            <a:rect r="r" b="b" t="t" l="l"/>
            <a:pathLst>
              <a:path h="9919526" w="5325660">
                <a:moveTo>
                  <a:pt x="0" y="0"/>
                </a:moveTo>
                <a:lnTo>
                  <a:pt x="5325660" y="0"/>
                </a:lnTo>
                <a:lnTo>
                  <a:pt x="5325660" y="9919526"/>
                </a:lnTo>
                <a:lnTo>
                  <a:pt x="0" y="9919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62797" b="-4109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95734" y="2488226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94696" y="1169678"/>
            <a:ext cx="8392166" cy="9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9"/>
              </a:lnSpc>
            </a:pPr>
            <a:r>
              <a:rPr lang="en-US" sz="58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Tech Stack &amp; Why It Fits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3058" y="2973237"/>
            <a:ext cx="7890942" cy="269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6"/>
              </a:lnSpc>
              <a:spcBef>
                <a:spcPct val="0"/>
              </a:spcBef>
            </a:pPr>
            <a:r>
              <a:rPr lang="en-US" sz="3082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Frontend: HTML, CSS, Javascript, React.js</a:t>
            </a:r>
          </a:p>
          <a:p>
            <a:pPr algn="l">
              <a:lnSpc>
                <a:spcPts val="4316"/>
              </a:lnSpc>
              <a:spcBef>
                <a:spcPct val="0"/>
              </a:spcBef>
            </a:pPr>
            <a:r>
              <a:rPr lang="en-US" sz="3082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Backend: Node.js (Express) /  Django</a:t>
            </a:r>
          </a:p>
          <a:p>
            <a:pPr algn="l">
              <a:lnSpc>
                <a:spcPts val="4316"/>
              </a:lnSpc>
              <a:spcBef>
                <a:spcPct val="0"/>
              </a:spcBef>
            </a:pPr>
            <a:r>
              <a:rPr lang="en-US" sz="3082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Database: MongoDB / SQLite</a:t>
            </a:r>
          </a:p>
          <a:p>
            <a:pPr algn="l">
              <a:lnSpc>
                <a:spcPts val="4316"/>
              </a:lnSpc>
              <a:spcBef>
                <a:spcPct val="0"/>
              </a:spcBef>
            </a:pPr>
            <a:r>
              <a:rPr lang="en-US" sz="3082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UI/UX: Figma (if needed)</a:t>
            </a:r>
          </a:p>
          <a:p>
            <a:pPr algn="l">
              <a:lnSpc>
                <a:spcPts val="4316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87062" y="6229448"/>
            <a:ext cx="7956938" cy="1634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  <a:spcBef>
                <a:spcPct val="0"/>
              </a:spcBef>
            </a:pPr>
            <a:r>
              <a:rPr lang="en-US" sz="314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Why It Fits: </a:t>
            </a:r>
          </a:p>
          <a:p>
            <a:pPr algn="l">
              <a:lnSpc>
                <a:spcPts val="4409"/>
              </a:lnSpc>
              <a:spcBef>
                <a:spcPct val="0"/>
              </a:spcBef>
            </a:pPr>
            <a:r>
              <a:rPr lang="en-US" sz="314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CRUD operations, real-world medical use, strong database integration.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06288" y="3146002"/>
            <a:ext cx="14240070" cy="14240070"/>
          </a:xfrm>
          <a:custGeom>
            <a:avLst/>
            <a:gdLst/>
            <a:ahLst/>
            <a:cxnLst/>
            <a:rect r="r" b="b" t="t" l="l"/>
            <a:pathLst>
              <a:path h="14240070" w="14240070">
                <a:moveTo>
                  <a:pt x="0" y="0"/>
                </a:moveTo>
                <a:lnTo>
                  <a:pt x="14240070" y="0"/>
                </a:lnTo>
                <a:lnTo>
                  <a:pt x="14240070" y="14240071"/>
                </a:lnTo>
                <a:lnTo>
                  <a:pt x="0" y="142400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89799" y="4665116"/>
            <a:ext cx="4376509" cy="4174084"/>
            <a:chOff x="0" y="0"/>
            <a:chExt cx="6487918" cy="61878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87918" cy="6187834"/>
            </a:xfrm>
            <a:custGeom>
              <a:avLst/>
              <a:gdLst/>
              <a:ahLst/>
              <a:cxnLst/>
              <a:rect r="r" b="b" t="t" l="l"/>
              <a:pathLst>
                <a:path h="6187834" w="6487918">
                  <a:moveTo>
                    <a:pt x="17690" y="0"/>
                  </a:moveTo>
                  <a:lnTo>
                    <a:pt x="6470228" y="0"/>
                  </a:lnTo>
                  <a:cubicBezTo>
                    <a:pt x="6474920" y="0"/>
                    <a:pt x="6479419" y="1864"/>
                    <a:pt x="6482737" y="5181"/>
                  </a:cubicBezTo>
                  <a:cubicBezTo>
                    <a:pt x="6486054" y="8499"/>
                    <a:pt x="6487918" y="12998"/>
                    <a:pt x="6487918" y="17690"/>
                  </a:cubicBezTo>
                  <a:lnTo>
                    <a:pt x="6487918" y="6170144"/>
                  </a:lnTo>
                  <a:cubicBezTo>
                    <a:pt x="6487918" y="6179914"/>
                    <a:pt x="6479998" y="6187834"/>
                    <a:pt x="6470228" y="6187834"/>
                  </a:cubicBezTo>
                  <a:lnTo>
                    <a:pt x="17690" y="6187834"/>
                  </a:lnTo>
                  <a:cubicBezTo>
                    <a:pt x="7920" y="6187834"/>
                    <a:pt x="0" y="6179914"/>
                    <a:pt x="0" y="6170144"/>
                  </a:cubicBezTo>
                  <a:lnTo>
                    <a:pt x="0" y="17690"/>
                  </a:lnTo>
                  <a:cubicBezTo>
                    <a:pt x="0" y="7920"/>
                    <a:pt x="7920" y="0"/>
                    <a:pt x="17690" y="0"/>
                  </a:cubicBezTo>
                  <a:close/>
                </a:path>
              </a:pathLst>
            </a:custGeom>
            <a:solidFill>
              <a:srgbClr val="F6F6F6"/>
            </a:solidFill>
            <a:ln cap="sq">
              <a:noFill/>
              <a:prstDash val="sysDot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6487918" cy="6283084"/>
            </a:xfrm>
            <a:prstGeom prst="rect">
              <a:avLst/>
            </a:prstGeom>
          </p:spPr>
          <p:txBody>
            <a:bodyPr anchor="b" rtlCol="false" tIns="254000" lIns="254000" bIns="254000" rIns="254000"/>
            <a:lstStyle/>
            <a:p>
              <a:pPr algn="l">
                <a:lnSpc>
                  <a:spcPts val="3359"/>
                </a:lnSpc>
              </a:pPr>
              <a:r>
                <a:rPr lang="en-US" sz="2399" b="true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Features: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Real-Time Bus Location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Student Login (University Email)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Admin Control for Routes &amp; Timings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Push Notifications for Bus Arrival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056958" y="4665116"/>
            <a:ext cx="4174084" cy="4174084"/>
          </a:xfrm>
          <a:custGeom>
            <a:avLst/>
            <a:gdLst/>
            <a:ahLst/>
            <a:cxnLst/>
            <a:rect r="r" b="b" t="t" l="l"/>
            <a:pathLst>
              <a:path h="4174084" w="4174084">
                <a:moveTo>
                  <a:pt x="0" y="0"/>
                </a:moveTo>
                <a:lnTo>
                  <a:pt x="4174084" y="0"/>
                </a:lnTo>
                <a:lnTo>
                  <a:pt x="4174084" y="4174084"/>
                </a:lnTo>
                <a:lnTo>
                  <a:pt x="0" y="41740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621334" y="4665116"/>
            <a:ext cx="4174084" cy="4174084"/>
          </a:xfrm>
          <a:custGeom>
            <a:avLst/>
            <a:gdLst/>
            <a:ahLst/>
            <a:cxnLst/>
            <a:rect r="r" b="b" t="t" l="l"/>
            <a:pathLst>
              <a:path h="4174084" w="4174084">
                <a:moveTo>
                  <a:pt x="0" y="0"/>
                </a:moveTo>
                <a:lnTo>
                  <a:pt x="4174083" y="0"/>
                </a:lnTo>
                <a:lnTo>
                  <a:pt x="4174083" y="4174084"/>
                </a:lnTo>
                <a:lnTo>
                  <a:pt x="0" y="41740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83420" y="1775640"/>
            <a:ext cx="13461364" cy="2041100"/>
            <a:chOff x="0" y="0"/>
            <a:chExt cx="17948485" cy="272146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47625"/>
              <a:ext cx="17948485" cy="111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68"/>
                </a:lnSpc>
              </a:pPr>
              <a:r>
                <a:rPr lang="en-US" sz="5698">
                  <a:solidFill>
                    <a:srgbClr val="000000"/>
                  </a:solidFill>
                  <a:latin typeface="Cy Grotesk Key"/>
                  <a:ea typeface="Cy Grotesk Key"/>
                  <a:cs typeface="Cy Grotesk Key"/>
                  <a:sym typeface="Cy Grotesk Key"/>
                </a:rPr>
                <a:t>Idea 3: EDU Bus Tracker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510321"/>
              <a:ext cx="17948485" cy="12111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5"/>
                </a:lnSpc>
              </a:pPr>
              <a:r>
                <a:rPr lang="en-US" sz="2675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Desc</a:t>
              </a:r>
              <a:r>
                <a:rPr lang="en-US" sz="2675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ription: Help student track the live location of the university buse and catch the closest bus enroute.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4696" y="1169678"/>
            <a:ext cx="8392166" cy="9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9"/>
              </a:lnSpc>
            </a:pPr>
            <a:r>
              <a:rPr lang="en-US" sz="58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Tech Stack &amp; Why It Fits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023965" y="3166965"/>
            <a:ext cx="14240070" cy="14240070"/>
          </a:xfrm>
          <a:custGeom>
            <a:avLst/>
            <a:gdLst/>
            <a:ahLst/>
            <a:cxnLst/>
            <a:rect r="r" b="b" t="t" l="l"/>
            <a:pathLst>
              <a:path h="14240070" w="14240070">
                <a:moveTo>
                  <a:pt x="0" y="0"/>
                </a:moveTo>
                <a:lnTo>
                  <a:pt x="14240070" y="0"/>
                </a:lnTo>
                <a:lnTo>
                  <a:pt x="14240070" y="14240070"/>
                </a:lnTo>
                <a:lnTo>
                  <a:pt x="0" y="14240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801228" y="2844192"/>
            <a:ext cx="7890942" cy="3348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3182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Frontend: React.js</a:t>
            </a:r>
          </a:p>
          <a:p>
            <a:pPr algn="l">
              <a:lnSpc>
                <a:spcPts val="4456"/>
              </a:lnSpc>
            </a:pPr>
            <a:r>
              <a:rPr lang="en-US" sz="3182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Backend: Python Django</a:t>
            </a:r>
          </a:p>
          <a:p>
            <a:pPr algn="l">
              <a:lnSpc>
                <a:spcPts val="4456"/>
              </a:lnSpc>
            </a:pPr>
            <a:r>
              <a:rPr lang="en-US" sz="3182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Database: MongoDB</a:t>
            </a:r>
          </a:p>
          <a:p>
            <a:pPr algn="l">
              <a:lnSpc>
                <a:spcPts val="4456"/>
              </a:lnSpc>
            </a:pPr>
            <a:r>
              <a:rPr lang="en-US" sz="3182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Map Integration: Google Maps API</a:t>
            </a:r>
          </a:p>
          <a:p>
            <a:pPr algn="l">
              <a:lnSpc>
                <a:spcPts val="4456"/>
              </a:lnSpc>
            </a:pPr>
            <a:r>
              <a:rPr lang="en-US" sz="3182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UI/UX: Figma</a:t>
            </a:r>
          </a:p>
          <a:p>
            <a:pPr algn="l">
              <a:lnSpc>
                <a:spcPts val="4456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2901342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801228" y="7042658"/>
            <a:ext cx="7956938" cy="1634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  <a:spcBef>
                <a:spcPct val="0"/>
              </a:spcBef>
            </a:pPr>
            <a:r>
              <a:rPr lang="en-US" sz="314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Why It Fits: </a:t>
            </a:r>
          </a:p>
          <a:p>
            <a:pPr algn="l">
              <a:lnSpc>
                <a:spcPts val="4409"/>
              </a:lnSpc>
              <a:spcBef>
                <a:spcPct val="0"/>
              </a:spcBef>
            </a:pPr>
            <a:r>
              <a:rPr lang="en-US" sz="314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Live data, API integration, scalable and highly useful for students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20445"/>
            <a:ext cx="18288000" cy="3403866"/>
          </a:xfrm>
          <a:prstGeom prst="rect">
            <a:avLst/>
          </a:prstGeom>
          <a:solidFill>
            <a:srgbClr val="FEEFE8"/>
          </a:solidFill>
        </p:spPr>
      </p:sp>
      <p:graphicFrame>
        <p:nvGraphicFramePr>
          <p:cNvPr name="Object 3" id="3"/>
          <p:cNvGraphicFramePr/>
          <p:nvPr/>
        </p:nvGraphicFramePr>
        <p:xfrm>
          <a:off x="0" y="1934802"/>
          <a:ext cx="9429750" cy="2514600"/>
        </p:xfrm>
        <a:graphic>
          <a:graphicData uri="http://schemas.openxmlformats.org/presentationml/2006/ole">
            <p:oleObj imgW="11315700" imgH="4394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0" y="331728"/>
            <a:ext cx="14906265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141414"/>
                </a:solidFill>
                <a:latin typeface="Caladea Bold"/>
                <a:ea typeface="Caladea Bold"/>
                <a:cs typeface="Caladea Bold"/>
                <a:sym typeface="Caladea Bold"/>
              </a:rPr>
              <a:t>Summary Comparison Table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2098282"/>
          </a:xfrm>
          <a:prstGeom prst="rect">
            <a:avLst/>
          </a:prstGeom>
          <a:solidFill>
            <a:srgbClr val="FEEFE8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447565" y="606056"/>
            <a:ext cx="4128720" cy="1738822"/>
            <a:chOff x="0" y="0"/>
            <a:chExt cx="5504960" cy="231842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57150"/>
              <a:ext cx="5504960" cy="10519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050"/>
                </a:lnSpc>
              </a:pPr>
              <a:r>
                <a:rPr lang="en-US" sz="5500">
                  <a:solidFill>
                    <a:srgbClr val="000000"/>
                  </a:solidFill>
                  <a:latin typeface="Cy Grotesk Key"/>
                  <a:ea typeface="Cy Grotesk Key"/>
                  <a:cs typeface="Cy Grotesk Key"/>
                  <a:sym typeface="Cy Grotesk Key"/>
                </a:rPr>
                <a:t>Conclusion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664378"/>
              <a:ext cx="4313650" cy="654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</a:pP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447565" y="2917154"/>
          <a:ext cx="16209706" cy="2518916"/>
        </p:xfrm>
        <a:graphic>
          <a:graphicData uri="http://schemas.openxmlformats.org/drawingml/2006/table">
            <a:tbl>
              <a:tblPr/>
              <a:tblGrid>
                <a:gridCol w="16209706"/>
              </a:tblGrid>
              <a:tr h="130279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6719"/>
                        </a:lnSpc>
                        <a:defRPr/>
                      </a:pPr>
                      <a:r>
                        <a:rPr lang="en-US" sz="47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Thank you for your time.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21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1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21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B4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612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We wou</a:t>
                      </a:r>
                      <a:r>
                        <a:rPr lang="en-US" sz="25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ld l</a:t>
                      </a:r>
                      <a:r>
                        <a:rPr lang="en-US" sz="25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o</a:t>
                      </a:r>
                      <a:r>
                        <a:rPr lang="en-US" sz="25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ve</a:t>
                      </a:r>
                      <a:r>
                        <a:rPr lang="en-US" sz="25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 </a:t>
                      </a:r>
                      <a:r>
                        <a:rPr lang="en-US" sz="25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an</a:t>
                      </a:r>
                      <a:r>
                        <a:rPr lang="en-US" sz="25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 reco</a:t>
                      </a:r>
                      <a:r>
                        <a:rPr lang="en-US" sz="25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mmen</a:t>
                      </a:r>
                      <a:r>
                        <a:rPr lang="en-US" sz="25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d</a:t>
                      </a:r>
                      <a:r>
                        <a:rPr lang="en-US" sz="25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at</a:t>
                      </a:r>
                      <a:r>
                        <a:rPr lang="en-US" sz="25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i</a:t>
                      </a:r>
                      <a:r>
                        <a:rPr lang="en-US" sz="25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o</a:t>
                      </a:r>
                      <a:r>
                        <a:rPr lang="en-US" sz="25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ns</a:t>
                      </a:r>
                      <a:r>
                        <a:rPr lang="en-US" sz="25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 fr</a:t>
                      </a:r>
                      <a:r>
                        <a:rPr lang="en-US" sz="25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o</a:t>
                      </a:r>
                      <a:r>
                        <a:rPr lang="en-US" sz="25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m</a:t>
                      </a:r>
                      <a:r>
                        <a:rPr lang="en-US" sz="25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 </a:t>
                      </a:r>
                      <a:r>
                        <a:rPr lang="en-US" sz="25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the faculty and the ones viewing our presentation.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21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1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B4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B4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790953" y="5959944"/>
            <a:ext cx="1984623" cy="430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  <a:spcBef>
                <a:spcPct val="0"/>
              </a:spcBef>
            </a:pPr>
            <a:r>
              <a:rPr lang="en-US" sz="254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Our Email IDs: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0953" y="6967514"/>
            <a:ext cx="4853885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Syed Nazmus Sakib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233028312@eastdelta.edu.bd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52418" y="6967514"/>
            <a:ext cx="4949618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Mohammed Shafkatul Alam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233030712@eastdelta.edu.bd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52418" y="8450048"/>
            <a:ext cx="4316611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MD. Sadman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233027612@eastdelta.edu.bd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0953" y="8450048"/>
            <a:ext cx="4326582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Misbah Uddin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233022312@eastdelta.edu.bd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DAG2Nrp18-A</dc:identifier>
  <dcterms:modified xsi:type="dcterms:W3CDTF">2011-08-01T06:04:30Z</dcterms:modified>
  <cp:revision>1</cp:revision>
  <dc:title>Stratagea Branding</dc:title>
</cp:coreProperties>
</file>